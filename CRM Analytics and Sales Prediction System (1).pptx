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a98ee4fc7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a98ee4fc7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a98ee4fc7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a98ee4fc7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a98ee4fc7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a98ee4fc7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a98ee4fc7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a98ee4fc7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a98ee4fc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a98ee4fc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a98ee4fc7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a98ee4fc7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a98ee4fc7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a98ee4fc7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a98ee4fc7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a98ee4fc7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a98ee4fc7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ea98ee4fc7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a98ee4fc7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a98ee4fc7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rgbClr val="F4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4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4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4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F4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13400" y="1578400"/>
            <a:ext cx="54414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CRM Analytics and Sales Prediction System</a:t>
            </a:r>
            <a:endParaRPr b="1" sz="2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Kakenova Zhanna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Problem &amp; CRM Challenge</a:t>
            </a:r>
            <a:endParaRPr b="1" sz="1800"/>
          </a:p>
        </p:txBody>
      </p:sp>
      <p:pic>
        <p:nvPicPr>
          <p:cNvPr id="141" name="Google Shape;141;p14" title="57012685-c775-467d-8793-c5241088866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8813" y="1026350"/>
            <a:ext cx="5296274" cy="353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195125" y="3596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Workflow</a:t>
            </a:r>
            <a:endParaRPr b="1" sz="2500"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5823950" y="1116150"/>
            <a:ext cx="3141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workflow of the platform is: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AdventureWorks Data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Data Cleaning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Exploratory Data Analysis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CRM Analysis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Machine Learning Models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Prediction Services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Business Insights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dataset was cleaned by removing missing values, duplicates, and invalid records before analysis.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5" title="Screenshot 2026-06-10 at 6.05.3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400" y="1059350"/>
            <a:ext cx="4504099" cy="3350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511800" y="300025"/>
            <a:ext cx="43305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 Dashboard</a:t>
            </a:r>
            <a:endParaRPr b="1" sz="2500"/>
          </a:p>
        </p:txBody>
      </p:sp>
      <p:pic>
        <p:nvPicPr>
          <p:cNvPr id="154" name="Google Shape;154;p16" title="Screenshot 2026-06-10 at 5.43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00" y="1023625"/>
            <a:ext cx="4865050" cy="3815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Interactive Analysis</a:t>
            </a:r>
            <a:endParaRPr sz="2500"/>
          </a:p>
        </p:txBody>
      </p:sp>
      <p:sp>
        <p:nvSpPr>
          <p:cNvPr id="160" name="Google Shape;160;p17"/>
          <p:cNvSpPr txBox="1"/>
          <p:nvPr/>
        </p:nvSpPr>
        <p:spPr>
          <a:xfrm>
            <a:off x="1219800" y="1128725"/>
            <a:ext cx="2789100" cy="3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</a:rPr>
              <a:t>The Interactive Analysis page allows users to explore the data dynamically.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</a:rPr>
              <a:t>Users can filter data by: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</a:rPr>
              <a:t>Country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</a:rPr>
              <a:t>Category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</a:rPr>
              <a:t>Sales Channel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</a:rPr>
              <a:t>Metrics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</a:rPr>
              <a:t>This enables managers to investigate customer behavior and sales performance from different business perspectives.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</a:rPr>
              <a:t>The platform supports data-driven decision making without writing any code.</a:t>
            </a:r>
            <a:endParaRPr sz="1100">
              <a:solidFill>
                <a:srgbClr val="FFFFFF"/>
              </a:solidFill>
            </a:endParaRPr>
          </a:p>
        </p:txBody>
      </p:sp>
      <p:pic>
        <p:nvPicPr>
          <p:cNvPr id="161" name="Google Shape;161;p17" title="Screenshot 2026-06-10 at 6.00.1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3224" y="547300"/>
            <a:ext cx="4709827" cy="1876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title="Screenshot 2026-06-10 at 6.00.26 AM.png"/>
          <p:cNvPicPr preferRelativeResize="0"/>
          <p:nvPr/>
        </p:nvPicPr>
        <p:blipFill rotWithShape="1">
          <a:blip r:embed="rId4">
            <a:alphaModFix/>
          </a:blip>
          <a:srcRect b="0" l="0" r="0" t="19814"/>
          <a:stretch/>
        </p:blipFill>
        <p:spPr>
          <a:xfrm>
            <a:off x="4264188" y="2638550"/>
            <a:ext cx="4627901" cy="2214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CRM Buy / Not Buy Prediction</a:t>
            </a:r>
            <a:endParaRPr b="1" sz="2500"/>
          </a:p>
        </p:txBody>
      </p: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366775" y="1567550"/>
            <a:ext cx="2925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most important CRM feature is Buy / Not Buy Prediction.</a:t>
            </a: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system receives:</a:t>
            </a: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 information</a:t>
            </a: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 information</a:t>
            </a: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Sales channel</a:t>
            </a: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Pricing information</a:t>
            </a: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Using a RandomForestClassifier with 200 trees, the model predicts whether the customer is likely to purchase the product.</a:t>
            </a: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Performance:</a:t>
            </a: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Accuracy = 89.6%</a:t>
            </a: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Precision = 89.6%</a:t>
            </a: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Recall = 89.6%</a:t>
            </a: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F1-score = 89.6%</a:t>
            </a: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allows businesses to identify potential buyers and improve marketing efficiency.</a:t>
            </a: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18" title="Screenshot 2026-06-10 at 5.45.1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2498" y="1227562"/>
            <a:ext cx="5714652" cy="359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Sales Prediction</a:t>
            </a:r>
            <a:endParaRPr b="1" sz="2500"/>
          </a:p>
        </p:txBody>
      </p:sp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4957525" y="520275"/>
            <a:ext cx="4008900" cy="27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second machine learning module predicts sales amount.</a:t>
            </a:r>
            <a:endParaRPr sz="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Input variables include:</a:t>
            </a:r>
            <a:endParaRPr sz="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 sz="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sz="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Quantity</a:t>
            </a:r>
            <a:endParaRPr sz="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Price</a:t>
            </a:r>
            <a:endParaRPr sz="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Discount</a:t>
            </a:r>
            <a:endParaRPr sz="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Region</a:t>
            </a:r>
            <a:endParaRPr sz="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Time information</a:t>
            </a:r>
            <a:endParaRPr sz="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prediction model uses RandomForestRegressor with 300 trees.</a:t>
            </a:r>
            <a:endParaRPr sz="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model achieved:</a:t>
            </a:r>
            <a:endParaRPr sz="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MAE = 0.0012</a:t>
            </a:r>
            <a:endParaRPr sz="9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R² </a:t>
            </a:r>
            <a:r>
              <a:rPr lang="ru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≈ </a:t>
            </a:r>
            <a:r>
              <a:rPr lang="ru" sz="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1.00</a:t>
            </a:r>
            <a:endParaRPr sz="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module helps estimate expected revenue before a transaction occurs.</a:t>
            </a:r>
            <a:endParaRPr sz="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4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525"/>
          </a:p>
        </p:txBody>
      </p:sp>
      <p:pic>
        <p:nvPicPr>
          <p:cNvPr id="176" name="Google Shape;176;p19" title="Screenshot 2026-06-10 at 5.45.5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175" y="1645875"/>
            <a:ext cx="4559048" cy="299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title="Screenshot 2026-06-10 at 4.57.0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8225" y="3354875"/>
            <a:ext cx="3387500" cy="143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Future Sales Forecast</a:t>
            </a:r>
            <a:endParaRPr b="1" sz="2500"/>
          </a:p>
        </p:txBody>
      </p:sp>
      <p:sp>
        <p:nvSpPr>
          <p:cNvPr id="183" name="Google Shape;183;p20"/>
          <p:cNvSpPr txBox="1"/>
          <p:nvPr>
            <p:ph idx="1" type="body"/>
          </p:nvPr>
        </p:nvSpPr>
        <p:spPr>
          <a:xfrm>
            <a:off x="5809800" y="1074100"/>
            <a:ext cx="3172200" cy="34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platform also provides future sales forecasting.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Managers can select: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Region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Forecast horizon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system generates projected sales values and visualizes future trends.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functionality supports inventory planning and strategic business decisions.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0" title="Screenshot 2026-06-10 at 5.46.2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800" y="1468807"/>
            <a:ext cx="5638001" cy="3077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1177125" y="393750"/>
            <a:ext cx="71592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Technical Architecture</a:t>
            </a:r>
            <a:endParaRPr b="1" sz="2500"/>
          </a:p>
        </p:txBody>
      </p:sp>
      <p:sp>
        <p:nvSpPr>
          <p:cNvPr id="190" name="Google Shape;190;p21"/>
          <p:cNvSpPr txBox="1"/>
          <p:nvPr>
            <p:ph idx="1" type="body"/>
          </p:nvPr>
        </p:nvSpPr>
        <p:spPr>
          <a:xfrm>
            <a:off x="1118375" y="851025"/>
            <a:ext cx="4153200" cy="39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platform was developed using: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Pandas for data processing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Scikit-Learn for machine learning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FastAPI for REST API services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Gradio for the user interface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Docker for containerization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Railway for cloud deployment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Architecture: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AdventureWorks Dataset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Data Processing Layer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Machine Learning Layer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FastAPI Backend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Gradio Frontend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Railway Cloud Deployment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application is fully deployable and accessible through a cloud environment, allowing users to interact with the CRM analytics platform through a web browser.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191" name="Google Shape;191;p21" title="Screenshot 2026-06-10 at 6.06.5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8825" y="1098388"/>
            <a:ext cx="36195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title="Screenshot 2026-06-10 at 6.10.2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9625" y="3574151"/>
            <a:ext cx="2718150" cy="91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title="Screenshot 2026-06-10 at 6.10.59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9625" y="2078725"/>
            <a:ext cx="2718149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title="Screenshot 2026-06-10 at 6.11.15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88813" y="2878825"/>
            <a:ext cx="2656268" cy="91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>
            <p:ph type="title"/>
          </p:nvPr>
        </p:nvSpPr>
        <p:spPr>
          <a:xfrm>
            <a:off x="468525" y="433925"/>
            <a:ext cx="4587000" cy="68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sz="3800"/>
          </a:p>
        </p:txBody>
      </p:sp>
      <p:sp>
        <p:nvSpPr>
          <p:cNvPr id="200" name="Google Shape;200;p22"/>
          <p:cNvSpPr txBox="1"/>
          <p:nvPr/>
        </p:nvSpPr>
        <p:spPr>
          <a:xfrm>
            <a:off x="468525" y="1231050"/>
            <a:ext cx="3000000" cy="26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</a:rPr>
              <a:t>In conclusion, I developed a complete CRM Analytics Platform that integrates: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</a:rPr>
              <a:t>EDA Analysis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</a:rPr>
              <a:t>Customer Purchase Prediction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</a:rPr>
              <a:t>Sales Prediction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</a:rPr>
              <a:t>Future Sales Forecasting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100">
                <a:solidFill>
                  <a:srgbClr val="FFFFFF"/>
                </a:solidFill>
              </a:rPr>
              <a:t>The system transforms raw sales data into actionable business intelligence and supports data-driven CRM decision making.</a:t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/>
        </p:nvSpPr>
        <p:spPr>
          <a:xfrm>
            <a:off x="3154500" y="2140800"/>
            <a:ext cx="2835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FFFF"/>
                </a:solidFill>
              </a:rPr>
              <a:t>Thank you for listening!</a:t>
            </a:r>
            <a:endParaRPr b="1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